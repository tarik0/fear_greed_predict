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2.jpe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3.jpeg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的屏幕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 userDrawn="1">
            <p:custDataLst>
              <p:tags r:id="rId5"/>
            </p:custDataLst>
          </p:nvPr>
        </p:nvSpPr>
        <p:spPr>
          <a:xfrm flipV="1"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34000">
                  <a:schemeClr val="accent2">
                    <a:alpha val="0"/>
                  </a:schemeClr>
                </a:gs>
              </a:gsLst>
              <a:lin ang="7800000" scaled="0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6"/>
            </p:custDataLst>
          </p:nvPr>
        </p:nvSpPr>
        <p:spPr>
          <a:xfrm>
            <a:off x="1163955" y="523875"/>
            <a:ext cx="6628130" cy="3411855"/>
          </a:xfrm>
        </p:spPr>
        <p:txBody>
          <a:bodyPr wrap="square" anchor="b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defRPr sz="48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>
            <a:no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0"/>
            </p:custDataLst>
          </p:nvPr>
        </p:nvSpPr>
        <p:spPr>
          <a:xfrm>
            <a:off x="1163638" y="4553893"/>
            <a:ext cx="6628158" cy="106435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15" name="矩形 14"/>
          <p:cNvSpPr/>
          <p:nvPr userDrawn="1">
            <p:custDataLst>
              <p:tags r:id="rId11"/>
            </p:custDataLst>
          </p:nvPr>
        </p:nvSpPr>
        <p:spPr>
          <a:xfrm>
            <a:off x="1163638" y="4304430"/>
            <a:ext cx="684000" cy="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en-US">
              <a:solidFill>
                <a:schemeClr val="accen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271462" y="452438"/>
            <a:ext cx="11649076" cy="61245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图形 3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3501234"/>
          </a:xfrm>
          <a:custGeom>
            <a:avLst/>
            <a:gdLst>
              <a:gd name="connsiteX0" fmla="*/ 0 w 12192000"/>
              <a:gd name="connsiteY0" fmla="*/ 2699336 h 4235386"/>
              <a:gd name="connsiteX1" fmla="*/ 0 w 12192000"/>
              <a:gd name="connsiteY1" fmla="*/ 0 h 4235386"/>
              <a:gd name="connsiteX2" fmla="*/ 12192000 w 12192000"/>
              <a:gd name="connsiteY2" fmla="*/ 0 h 4235386"/>
              <a:gd name="connsiteX3" fmla="*/ 12192000 w 12192000"/>
              <a:gd name="connsiteY3" fmla="*/ 2699336 h 4235386"/>
              <a:gd name="connsiteX4" fmla="*/ 6096000 w 12192000"/>
              <a:gd name="connsiteY4" fmla="*/ 4235386 h 4235386"/>
              <a:gd name="connsiteX5" fmla="*/ 0 w 12192000"/>
              <a:gd name="connsiteY5" fmla="*/ 2699336 h 4235386"/>
              <a:gd name="connsiteX0-1" fmla="*/ 0 w 12192000"/>
              <a:gd name="connsiteY0-2" fmla="*/ 2699336 h 4094834"/>
              <a:gd name="connsiteX1-3" fmla="*/ 0 w 12192000"/>
              <a:gd name="connsiteY1-4" fmla="*/ 0 h 4094834"/>
              <a:gd name="connsiteX2-5" fmla="*/ 12192000 w 12192000"/>
              <a:gd name="connsiteY2-6" fmla="*/ 0 h 4094834"/>
              <a:gd name="connsiteX3-7" fmla="*/ 12192000 w 12192000"/>
              <a:gd name="connsiteY3-8" fmla="*/ 2699336 h 4094834"/>
              <a:gd name="connsiteX4-9" fmla="*/ 6102395 w 12192000"/>
              <a:gd name="connsiteY4-10" fmla="*/ 4094834 h 4094834"/>
              <a:gd name="connsiteX5-11" fmla="*/ 0 w 12192000"/>
              <a:gd name="connsiteY5-12" fmla="*/ 2699336 h 4094834"/>
              <a:gd name="connsiteX0-13" fmla="*/ 0 w 12192000"/>
              <a:gd name="connsiteY0-14" fmla="*/ 2699336 h 4094834"/>
              <a:gd name="connsiteX1-15" fmla="*/ 0 w 12192000"/>
              <a:gd name="connsiteY1-16" fmla="*/ 0 h 4094834"/>
              <a:gd name="connsiteX2-17" fmla="*/ 12192000 w 12192000"/>
              <a:gd name="connsiteY2-18" fmla="*/ 0 h 4094834"/>
              <a:gd name="connsiteX3-19" fmla="*/ 12192000 w 12192000"/>
              <a:gd name="connsiteY3-20" fmla="*/ 2699336 h 4094834"/>
              <a:gd name="connsiteX4-21" fmla="*/ 6102395 w 12192000"/>
              <a:gd name="connsiteY4-22" fmla="*/ 4094834 h 4094834"/>
              <a:gd name="connsiteX5-23" fmla="*/ 0 w 12192000"/>
              <a:gd name="connsiteY5-24" fmla="*/ 2699336 h 4094834"/>
              <a:gd name="connsiteX0-25" fmla="*/ 0 w 12192000"/>
              <a:gd name="connsiteY0-26" fmla="*/ 2699336 h 4094834"/>
              <a:gd name="connsiteX1-27" fmla="*/ 0 w 12192000"/>
              <a:gd name="connsiteY1-28" fmla="*/ 0 h 4094834"/>
              <a:gd name="connsiteX2-29" fmla="*/ 12192000 w 12192000"/>
              <a:gd name="connsiteY2-30" fmla="*/ 0 h 4094834"/>
              <a:gd name="connsiteX3-31" fmla="*/ 12192000 w 12192000"/>
              <a:gd name="connsiteY3-32" fmla="*/ 2699336 h 4094834"/>
              <a:gd name="connsiteX4-33" fmla="*/ 6102395 w 12192000"/>
              <a:gd name="connsiteY4-34" fmla="*/ 4094834 h 4094834"/>
              <a:gd name="connsiteX5-35" fmla="*/ 0 w 12192000"/>
              <a:gd name="connsiteY5-36" fmla="*/ 2699336 h 4094834"/>
              <a:gd name="connsiteX0-37" fmla="*/ 0 w 12192000"/>
              <a:gd name="connsiteY0-38" fmla="*/ 2699336 h 4094834"/>
              <a:gd name="connsiteX1-39" fmla="*/ 0 w 12192000"/>
              <a:gd name="connsiteY1-40" fmla="*/ 0 h 4094834"/>
              <a:gd name="connsiteX2-41" fmla="*/ 12192000 w 12192000"/>
              <a:gd name="connsiteY2-42" fmla="*/ 0 h 4094834"/>
              <a:gd name="connsiteX3-43" fmla="*/ 12192000 w 12192000"/>
              <a:gd name="connsiteY3-44" fmla="*/ 2699336 h 4094834"/>
              <a:gd name="connsiteX4-45" fmla="*/ 6102395 w 12192000"/>
              <a:gd name="connsiteY4-46" fmla="*/ 4094834 h 4094834"/>
              <a:gd name="connsiteX5-47" fmla="*/ 0 w 12192000"/>
              <a:gd name="connsiteY5-48" fmla="*/ 2699336 h 4094834"/>
              <a:gd name="connsiteX0-49" fmla="*/ 0 w 12192000"/>
              <a:gd name="connsiteY0-50" fmla="*/ 2699336 h 4050449"/>
              <a:gd name="connsiteX1-51" fmla="*/ 0 w 12192000"/>
              <a:gd name="connsiteY1-52" fmla="*/ 0 h 4050449"/>
              <a:gd name="connsiteX2-53" fmla="*/ 12192000 w 12192000"/>
              <a:gd name="connsiteY2-54" fmla="*/ 0 h 4050449"/>
              <a:gd name="connsiteX3-55" fmla="*/ 12192000 w 12192000"/>
              <a:gd name="connsiteY3-56" fmla="*/ 2699336 h 4050449"/>
              <a:gd name="connsiteX4-57" fmla="*/ 6108789 w 12192000"/>
              <a:gd name="connsiteY4-58" fmla="*/ 4050449 h 4050449"/>
              <a:gd name="connsiteX5-59" fmla="*/ 0 w 12192000"/>
              <a:gd name="connsiteY5-60" fmla="*/ 2699336 h 40504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192000" h="4050449">
                <a:moveTo>
                  <a:pt x="0" y="2699336"/>
                </a:moveTo>
                <a:lnTo>
                  <a:pt x="0" y="0"/>
                </a:lnTo>
                <a:lnTo>
                  <a:pt x="12192000" y="0"/>
                </a:lnTo>
                <a:lnTo>
                  <a:pt x="12192000" y="2699336"/>
                </a:lnTo>
                <a:cubicBezTo>
                  <a:pt x="9432701" y="3723367"/>
                  <a:pt x="8193585" y="4050449"/>
                  <a:pt x="6108789" y="4050449"/>
                </a:cubicBezTo>
                <a:cubicBezTo>
                  <a:pt x="4023993" y="4050449"/>
                  <a:pt x="2759319" y="3723367"/>
                  <a:pt x="0" y="2699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38000">
                <a:schemeClr val="accent2">
                  <a:lumMod val="50000"/>
                </a:schemeClr>
              </a:gs>
            </a:gsLst>
            <a:lin ang="8100000" scaled="1"/>
            <a:tileRect/>
          </a:gradFill>
          <a:ln w="4762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77111" y="1273862"/>
            <a:ext cx="10437779" cy="1081088"/>
          </a:xfrm>
        </p:spPr>
        <p:txBody>
          <a:bodyPr wrap="square" anchor="b">
            <a:normAutofit/>
          </a:bodyPr>
          <a:lstStyle>
            <a:lvl1pPr algn="ctr"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萤幕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81355" y="2541270"/>
            <a:ext cx="10829925" cy="1536700"/>
          </a:xfrm>
        </p:spPr>
        <p:txBody>
          <a:bodyPr wrap="square" anchor="t">
            <a:normAutofit/>
          </a:bodyPr>
          <a:lstStyle>
            <a:lvl1pPr algn="ctr">
              <a:defRPr sz="40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681355" y="136525"/>
            <a:ext cx="10829925" cy="2277110"/>
          </a:xfrm>
        </p:spPr>
        <p:txBody>
          <a:bodyPr wrap="none" anchor="b">
            <a:normAutofit/>
          </a:bodyPr>
          <a:lstStyle>
            <a:lvl1pPr marL="0" indent="0" algn="ctr">
              <a:buNone/>
              <a:defRPr sz="8000" b="1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235075"/>
            <a:ext cx="5181600" cy="48990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5602" y="1235075"/>
            <a:ext cx="5181600" cy="48990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46687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1862051"/>
            <a:ext cx="5157787" cy="4272049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246687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1862051"/>
            <a:ext cx="5183188" cy="4272049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81038" y="360000"/>
            <a:ext cx="10813762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35075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的屏幕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 flipV="1"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34000">
                  <a:schemeClr val="accent2">
                    <a:alpha val="0"/>
                  </a:schemeClr>
                </a:gs>
              </a:gsLst>
              <a:lin ang="7800000" scaled="0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6"/>
            </p:custDataLst>
          </p:nvPr>
        </p:nvSpPr>
        <p:spPr>
          <a:xfrm>
            <a:off x="681038" y="280987"/>
            <a:ext cx="10829924" cy="3148013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4800" y="1235075"/>
            <a:ext cx="10800000" cy="48917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87.xml"/><Relationship Id="rId3" Type="http://schemas.openxmlformats.org/officeDocument/2006/relationships/image" Target="../media/image4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6.xml"/><Relationship Id="rId3" Type="http://schemas.openxmlformats.org/officeDocument/2006/relationships/image" Target="../media/image5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/>
        <p:txBody>
          <a:bodyPr wrap="square">
            <a:noAutofit/>
          </a:bodyPr>
          <a:lstStyle/>
          <a:p>
            <a:r>
              <a:rPr lang="en-US" altLang="en-US" sz="2000"/>
              <a:t>CENG 476 - Introduction to Deep Learning</a:t>
            </a:r>
            <a:endParaRPr lang="en-US" altLang="en-US" sz="2000"/>
          </a:p>
          <a:p>
            <a:r>
              <a:rPr lang="en-US" altLang="en-US" sz="2000"/>
              <a:t>Tar</a:t>
            </a:r>
            <a:r>
              <a:rPr lang="en-US" altLang="en-US" sz="2000"/>
              <a:t>ı</a:t>
            </a:r>
            <a:r>
              <a:rPr lang="en-US" altLang="en-US" sz="2000"/>
              <a:t>k K</a:t>
            </a:r>
            <a:r>
              <a:rPr lang="en-US" altLang="en-US" sz="2000"/>
              <a:t>ı</a:t>
            </a:r>
            <a:r>
              <a:rPr lang="en-US" altLang="en-US" sz="2000"/>
              <a:t>z</a:t>
            </a:r>
            <a:r>
              <a:rPr lang="en-US" altLang="en-US" sz="2000"/>
              <a:t>ı</a:t>
            </a:r>
            <a:r>
              <a:rPr lang="en-US" altLang="en-US" sz="2000"/>
              <a:t>ltan</a:t>
            </a:r>
            <a:r>
              <a:rPr lang="tr-TR" altLang="en-US" sz="2000"/>
              <a:t>-</a:t>
            </a:r>
            <a:r>
              <a:rPr lang="en-US" altLang="en-US" sz="2000"/>
              <a:t>200444020</a:t>
            </a:r>
            <a:endParaRPr lang="en-US" altLang="en-US" sz="2000"/>
          </a:p>
          <a:p>
            <a:r>
              <a:rPr lang="en-US" altLang="en-US" sz="2000"/>
              <a:t>Kas</a:t>
            </a:r>
            <a:r>
              <a:rPr lang="en-US" altLang="en-US" sz="2000"/>
              <a:t>ı</a:t>
            </a:r>
            <a:r>
              <a:rPr lang="en-US" altLang="en-US" sz="2000"/>
              <a:t>m Berke </a:t>
            </a:r>
            <a:r>
              <a:rPr lang="en-US" altLang="en-US" sz="2000"/>
              <a:t>Ü</a:t>
            </a:r>
            <a:r>
              <a:rPr lang="en-US" altLang="en-US" sz="2000"/>
              <a:t>nver </a:t>
            </a:r>
            <a:r>
              <a:rPr lang="tr-TR" altLang="en-US" sz="2000"/>
              <a:t>-</a:t>
            </a:r>
            <a:r>
              <a:rPr lang="en-US" altLang="en-US" sz="2000"/>
              <a:t>200444021</a:t>
            </a:r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63955" y="1122045"/>
            <a:ext cx="6628130" cy="2307590"/>
          </a:xfrm>
        </p:spPr>
        <p:txBody>
          <a:bodyPr wrap="square">
            <a:noAutofit/>
          </a:bodyPr>
          <a:lstStyle/>
          <a:p>
            <a:pPr algn="ctr"/>
            <a:r>
              <a:rPr lang="en-US" altLang="en-US" sz="4400" dirty="0"/>
              <a:t>Deep Learning Based Fear &amp; Greed Index Prediction</a:t>
            </a:r>
            <a:endParaRPr lang="en-US" altLang="en-US" sz="4400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/>
        <p:txBody>
          <a:bodyPr wrap="square">
            <a:noAutofit/>
          </a:bodyPr>
          <a:lstStyle/>
          <a:p>
            <a:r>
              <a:rPr lang="en-US" altLang="en-US" sz="2000"/>
              <a:t>Financial markets are non-linear and volatile.</a:t>
            </a:r>
            <a:endParaRPr lang="en-US" altLang="en-US" sz="2000"/>
          </a:p>
          <a:p>
            <a:r>
              <a:rPr lang="en-US" altLang="en-US" sz="2000"/>
              <a:t>Accurate sentiment prediction aids in risk management.</a:t>
            </a:r>
            <a:endParaRPr lang="en-US" altLang="en-US" sz="2000"/>
          </a:p>
          <a:p>
            <a:r>
              <a:rPr lang="en-US" altLang="en-US" sz="2000"/>
              <a:t>Time-Series Regression (Predicting a score between 0-100).</a:t>
            </a:r>
            <a:endParaRPr lang="en-US" altLang="en-US" sz="2000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63955" y="523875"/>
            <a:ext cx="6628130" cy="2081530"/>
          </a:xfrm>
        </p:spPr>
        <p:txBody>
          <a:bodyPr wrap="square">
            <a:normAutofit/>
          </a:bodyPr>
          <a:lstStyle/>
          <a:p>
            <a:pPr algn="ctr"/>
            <a:r>
              <a:rPr lang="en-US" altLang="en-US" sz="3200" dirty="0"/>
              <a:t>Predicting synthetic "Crypto Fear &amp; Greed Index" using historical market data.</a:t>
            </a:r>
            <a:endParaRPr lang="en-US" altLang="en-US" sz="3200" dirty="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>
          <a:xfrm>
            <a:off x="1163955" y="4553585"/>
            <a:ext cx="6628130" cy="1710690"/>
          </a:xfrm>
        </p:spPr>
        <p:txBody>
          <a:bodyPr wrap="square">
            <a:noAutofit/>
          </a:bodyPr>
          <a:lstStyle/>
          <a:p>
            <a:r>
              <a:rPr lang="en-US" altLang="en-US" sz="2000"/>
              <a:t>Input Features (13 Total):</a:t>
            </a:r>
            <a:endParaRPr lang="en-US" altLang="en-US" sz="2000"/>
          </a:p>
          <a:p>
            <a:r>
              <a:rPr lang="en-US" altLang="en-US" sz="2000"/>
              <a:t>Price Momentum (1-day, 7-day returns)</a:t>
            </a:r>
            <a:endParaRPr lang="en-US" altLang="en-US" sz="2000"/>
          </a:p>
          <a:p>
            <a:r>
              <a:rPr lang="en-US" altLang="en-US" sz="2000"/>
              <a:t>Volatility (Rolling standard deviation)</a:t>
            </a:r>
            <a:endParaRPr lang="en-US" altLang="en-US" sz="2000"/>
          </a:p>
          <a:p>
            <a:r>
              <a:rPr lang="en-US" altLang="en-US" sz="2000"/>
              <a:t>Cross-Asset Ratios (BTC/Gold ratio)</a:t>
            </a:r>
            <a:endParaRPr lang="en-US" altLang="en-US" sz="2000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63955" y="523875"/>
            <a:ext cx="6628130" cy="2602865"/>
          </a:xfrm>
        </p:spPr>
        <p:txBody>
          <a:bodyPr wrap="square">
            <a:normAutofit/>
          </a:bodyPr>
          <a:lstStyle/>
          <a:p>
            <a:r>
              <a:rPr lang="en-US" altLang="en-US" dirty="0"/>
              <a:t>Bitcoin &amp; Gold Daily </a:t>
            </a:r>
            <a:r>
              <a:rPr lang="en-US" altLang="en-US" sz="4400" dirty="0"/>
              <a:t>Closing </a:t>
            </a:r>
            <a:r>
              <a:rPr lang="en-US" altLang="en-US" dirty="0"/>
              <a:t>Prices</a:t>
            </a:r>
            <a:endParaRPr lang="en-US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altLang="en-US" sz="2000"/>
              <a:t>Instead of using pre-labeled data, we engineered a custom target variable based on momentum divergence between assets.</a:t>
            </a:r>
            <a:endParaRPr lang="en-US" altLang="en-US" sz="2000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63955" y="523875"/>
            <a:ext cx="6628130" cy="2086610"/>
          </a:xfrm>
        </p:spPr>
        <p:txBody>
          <a:bodyPr wrap="square">
            <a:normAutofit/>
          </a:bodyPr>
          <a:lstStyle/>
          <a:p>
            <a:r>
              <a:rPr lang="en-US" altLang="en-US" dirty="0"/>
              <a:t>Synthetic Target</a:t>
            </a:r>
            <a:endParaRPr lang="en-US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>
          <a:xfrm>
            <a:off x="1163955" y="4544060"/>
            <a:ext cx="6628130" cy="1073785"/>
          </a:xfrm>
        </p:spPr>
        <p:txBody>
          <a:bodyPr wrap="square">
            <a:normAutofit/>
          </a:bodyPr>
          <a:lstStyle/>
          <a:p>
            <a:r>
              <a:rPr lang="en-US" altLang="en-US"/>
              <a:t>Core Model: GRU (Gated Recurrent Unit)</a:t>
            </a:r>
            <a:endParaRPr lang="en-US" altLang="en-US"/>
          </a:p>
          <a:p>
            <a:r>
              <a:rPr lang="en-US" altLang="en-US"/>
              <a:t>Why GRU? Computational efficiency over LSTM, better at capturing long-term dependencies than simple RNNs.</a:t>
            </a:r>
            <a:endParaRPr lang="en-US" altLang="en-US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63955" y="523875"/>
            <a:ext cx="6628130" cy="1460500"/>
          </a:xfrm>
        </p:spPr>
        <p:txBody>
          <a:bodyPr wrap="square">
            <a:normAutofit/>
          </a:bodyPr>
          <a:lstStyle/>
          <a:p>
            <a:r>
              <a:rPr lang="en-US" altLang="en-US" dirty="0"/>
              <a:t>Model Architecture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880" y="2079625"/>
            <a:ext cx="5192395" cy="25298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>
          <a:xfrm>
            <a:off x="1163955" y="4553585"/>
            <a:ext cx="6628130" cy="1802130"/>
          </a:xfrm>
        </p:spPr>
        <p:txBody>
          <a:bodyPr wrap="square">
            <a:normAutofit fontScale="25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5600"/>
              <a:t>Input Normalization: Batch Normalization (Stability)</a:t>
            </a:r>
            <a:endParaRPr lang="en-US" altLang="en-US" sz="5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5600"/>
              <a:t>Recurrent Layer: GRU (Hidden Dim: 64)</a:t>
            </a:r>
            <a:endParaRPr lang="en-US" altLang="en-US" sz="5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5600"/>
              <a:t>Regularization: Dropout (0.3)</a:t>
            </a:r>
            <a:endParaRPr lang="en-US" altLang="en-US" sz="5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5600"/>
              <a:t>Hidden Layer: Linear (32) + ReLU</a:t>
            </a:r>
            <a:endParaRPr lang="en-US" altLang="en-US" sz="5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5600"/>
              <a:t>Output: Linear (Regression)</a:t>
            </a:r>
            <a:endParaRPr lang="en-US" altLang="en-US" sz="5600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63955" y="1019175"/>
            <a:ext cx="6628130" cy="1227455"/>
          </a:xfrm>
        </p:spPr>
        <p:txBody>
          <a:bodyPr wrap="square">
            <a:normAutofit/>
          </a:bodyPr>
          <a:lstStyle/>
          <a:p>
            <a:r>
              <a:rPr lang="en-US" altLang="en-US" dirty="0"/>
              <a:t>Architecture Flow</a:t>
            </a:r>
            <a:endParaRPr lang="en-US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>
          <a:xfrm>
            <a:off x="1163955" y="4553585"/>
            <a:ext cx="6628130" cy="1832610"/>
          </a:xfrm>
        </p:spPr>
        <p:txBody>
          <a:bodyPr wrap="square">
            <a:normAutofit fontScale="25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5600"/>
              <a:t>Data Splitting: Chronological Split (70% Train / 15% Val / 15% Test).</a:t>
            </a:r>
            <a:endParaRPr lang="en-US" altLang="en-US" sz="5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5600"/>
              <a:t>Reason: Preventing Data Leakage </a:t>
            </a:r>
            <a:endParaRPr lang="en-US" altLang="en-US" sz="5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5600"/>
              <a:t>Optimizer: AdamW.</a:t>
            </a:r>
            <a:endParaRPr lang="en-US" altLang="en-US" sz="5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5600"/>
              <a:t>Scheduler: ReduceLROnPlateau (Reduces LR by 0.5 if loss stalls).</a:t>
            </a:r>
            <a:endParaRPr lang="en-US" altLang="en-US" sz="5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5600"/>
              <a:t>Early Stopping: Patience = 30 epochs.</a:t>
            </a:r>
            <a:endParaRPr lang="en-US" altLang="en-US" sz="5600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63955" y="523875"/>
            <a:ext cx="6628130" cy="1813560"/>
          </a:xfrm>
        </p:spPr>
        <p:txBody>
          <a:bodyPr wrap="square">
            <a:normAutofit/>
          </a:bodyPr>
          <a:lstStyle/>
          <a:p>
            <a:r>
              <a:rPr lang="en-US" altLang="en-US" dirty="0"/>
              <a:t>Training Strategy</a:t>
            </a:r>
            <a:endParaRPr lang="en-US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>
          <a:xfrm>
            <a:off x="1163320" y="4391660"/>
            <a:ext cx="6628130" cy="1168400"/>
          </a:xfrm>
        </p:spPr>
        <p:txBody>
          <a:bodyPr wrap="square">
            <a:normAutofit/>
          </a:bodyPr>
          <a:lstStyle/>
          <a:p>
            <a:r>
              <a:rPr lang="en-US" altLang="en-US" sz="1600"/>
              <a:t>Key Metrics (Test Set):</a:t>
            </a:r>
            <a:br>
              <a:rPr lang="en-US" altLang="en-US" sz="1600"/>
            </a:br>
            <a:r>
              <a:rPr lang="en-US" altLang="en-US" sz="1600"/>
              <a:t>R</a:t>
            </a:r>
            <a:r>
              <a:rPr lang="en-US" altLang="en-US" sz="1600" baseline="30000"/>
              <a:t>2</a:t>
            </a:r>
            <a:r>
              <a:rPr lang="en-US" altLang="en-US" sz="1600"/>
              <a:t> Score: 0.65 (Beats Baseline significantly).</a:t>
            </a:r>
            <a:br>
              <a:rPr lang="en-US" altLang="en-US" sz="1600"/>
            </a:br>
            <a:r>
              <a:rPr lang="en-US" altLang="en-US" sz="1600"/>
              <a:t>Direction Accuracy: 67.79% (Predicts Up/Down correctly).</a:t>
            </a:r>
            <a:br>
              <a:rPr lang="en-US" altLang="en-US" sz="1600"/>
            </a:br>
            <a:r>
              <a:rPr lang="en-US" altLang="en-US" sz="1600"/>
              <a:t>RMSE: 17.04</a:t>
            </a:r>
            <a:r>
              <a:rPr lang="tr-TR" altLang="en-US" sz="1600"/>
              <a:t>a</a:t>
            </a:r>
            <a:endParaRPr lang="tr-TR" altLang="en-US" sz="1600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81405" y="1534160"/>
            <a:ext cx="4063365" cy="1297940"/>
          </a:xfrm>
        </p:spPr>
        <p:txBody>
          <a:bodyPr wrap="square">
            <a:normAutofit/>
          </a:bodyPr>
          <a:lstStyle/>
          <a:p>
            <a:r>
              <a:rPr lang="en-US" altLang="en-US" dirty="0"/>
              <a:t>Results</a:t>
            </a:r>
            <a:endParaRPr lang="en-US" alt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1081405" y="5560060"/>
            <a:ext cx="6628130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spcBef>
                <a:spcPct val="0"/>
              </a:spcBef>
            </a:pPr>
            <a:r>
              <a:rPr lang="en-US" altLang="en-US" sz="1600">
                <a:solidFill>
                  <a:schemeClr val="bg1"/>
                </a:solidFill>
                <a:ea typeface="Google Sans Text"/>
                <a:cs typeface="+mn-lt"/>
              </a:rPr>
              <a:t>Observation:</a:t>
            </a:r>
            <a:endParaRPr lang="en-US" altLang="en-US" sz="1600">
              <a:solidFill>
                <a:schemeClr val="bg1"/>
              </a:solidFill>
              <a:ea typeface="Google Sans Text"/>
              <a:cs typeface="+mn-lt"/>
            </a:endParaRPr>
          </a:p>
          <a:p>
            <a:pPr algn="l">
              <a:spcBef>
                <a:spcPct val="0"/>
              </a:spcBef>
            </a:pPr>
            <a:r>
              <a:rPr lang="en-US" altLang="en-US" sz="1600">
                <a:solidFill>
                  <a:schemeClr val="bg1"/>
                </a:solidFill>
                <a:ea typeface="Google Sans Text"/>
                <a:cs typeface="+mn-lt"/>
              </a:rPr>
              <a:t>Training and Validation loss converge together (No Overfitting).</a:t>
            </a:r>
            <a:endParaRPr lang="en-US" altLang="en-US" sz="1600">
              <a:solidFill>
                <a:schemeClr val="bg1"/>
              </a:solidFill>
              <a:ea typeface="Google Sans Text"/>
              <a:cs typeface="+mn-lt"/>
            </a:endParaRPr>
          </a:p>
          <a:p>
            <a:pPr algn="l">
              <a:spcBef>
                <a:spcPct val="0"/>
              </a:spcBef>
            </a:pPr>
            <a:r>
              <a:rPr lang="en-US" altLang="en-US" sz="1600">
                <a:solidFill>
                  <a:schemeClr val="bg1"/>
                </a:solidFill>
                <a:ea typeface="Google Sans Text"/>
                <a:cs typeface="+mn-lt"/>
              </a:rPr>
              <a:t>Direction accuracy improves consistently over epochs.</a:t>
            </a:r>
            <a:endParaRPr lang="en-US" altLang="en-US" sz="1600">
              <a:solidFill>
                <a:schemeClr val="bg1"/>
              </a:solidFill>
              <a:ea typeface="Google Sans Text"/>
              <a:cs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770" y="424815"/>
            <a:ext cx="6390005" cy="42602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>
          <a:xfrm>
            <a:off x="1163638" y="4554528"/>
            <a:ext cx="6628158" cy="1064352"/>
          </a:xfrm>
        </p:spPr>
        <p:txBody>
          <a:bodyPr wrap="square">
            <a:noAutofit/>
          </a:bodyPr>
          <a:lstStyle/>
          <a:p>
            <a:r>
              <a:rPr lang="en-US" altLang="en-US" sz="1800"/>
              <a:t>Synthetic Target Engineering: Creating a domain-specific target variable rather than using raw prices.</a:t>
            </a:r>
            <a:endParaRPr lang="en-US" altLang="en-US" sz="1800"/>
          </a:p>
          <a:p>
            <a:br>
              <a:rPr lang="en-US" altLang="en-US" sz="1800"/>
            </a:br>
            <a:r>
              <a:rPr lang="en-US" altLang="en-US" sz="1800"/>
              <a:t>Custom Metric: Implementing "Direction Accuracy" to measure financial utility beyond standard regression errors.</a:t>
            </a:r>
            <a:endParaRPr lang="en-US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63955" y="523875"/>
            <a:ext cx="7315835" cy="2198370"/>
          </a:xfrm>
        </p:spPr>
        <p:txBody>
          <a:bodyPr wrap="square">
            <a:normAutofit/>
          </a:bodyPr>
          <a:lstStyle/>
          <a:p>
            <a:r>
              <a:rPr lang="en-US" altLang="en-US" dirty="0"/>
              <a:t>Creativity &amp; Originality</a:t>
            </a:r>
            <a:endParaRPr lang="en-US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altLang="en-US"/>
              <a:t>Summary: Successfully implemented a GRU model with 0.65 R</a:t>
            </a:r>
            <a:r>
              <a:rPr lang="en-US" altLang="en-US" baseline="30000"/>
              <a:t>2</a:t>
            </a:r>
            <a:r>
              <a:rPr lang="en-US" altLang="en-US"/>
              <a:t> score.</a:t>
            </a:r>
            <a:endParaRPr lang="en-US" altLang="en-US"/>
          </a:p>
          <a:p>
            <a:r>
              <a:rPr lang="en-US" altLang="en-US"/>
              <a:t>Key Takeaway: Deep Learning (GRU) outperforms statistical baselines in capturing market sentiment.</a:t>
            </a:r>
            <a:endParaRPr lang="en-US" altLang="en-US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63955" y="796925"/>
            <a:ext cx="3368675" cy="1631950"/>
          </a:xfrm>
        </p:spPr>
        <p:txBody>
          <a:bodyPr wrap="square">
            <a:normAutofit/>
          </a:bodyPr>
          <a:lstStyle/>
          <a:p>
            <a:r>
              <a:rPr lang="en-US" altLang="en-US" dirty="0"/>
              <a:t>Conclusion</a:t>
            </a:r>
            <a:endParaRPr lang="en-US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tr-TR" altLang="en-US" sz="2000"/>
              <a:t>Tarık Kızıltan-200444020</a:t>
            </a:r>
            <a:br>
              <a:rPr lang="tr-TR" altLang="en-US" sz="2000"/>
            </a:br>
            <a:r>
              <a:rPr lang="tr-TR" altLang="en-US" sz="2000"/>
              <a:t>Kasım Berke Ünver-200444021</a:t>
            </a:r>
            <a:endParaRPr lang="tr-TR" altLang="en-US" sz="2000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altLang="en-US" dirty="0"/>
              <a:t>Thank you for listening.</a:t>
            </a:r>
            <a:endParaRPr lang="en-US" altLang="en-US" dirty="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_1*f*3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6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3"/>
</p:tagLst>
</file>

<file path=ppt/tags/tag73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76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79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82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85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88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91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94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97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100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103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紫金">
      <a:dk1>
        <a:srgbClr val="000000"/>
      </a:dk1>
      <a:lt1>
        <a:srgbClr val="FFFFFF"/>
      </a:lt1>
      <a:dk2>
        <a:srgbClr val="140831"/>
      </a:dk2>
      <a:lt2>
        <a:srgbClr val="ECE6FA"/>
      </a:lt2>
      <a:accent1>
        <a:srgbClr val="D9AB7D"/>
      </a:accent1>
      <a:accent2>
        <a:srgbClr val="27125A"/>
      </a:accent2>
      <a:accent3>
        <a:srgbClr val="63489A"/>
      </a:accent3>
      <a:accent4>
        <a:srgbClr val="FF8001"/>
      </a:accent4>
      <a:accent5>
        <a:srgbClr val="4B4BE5"/>
      </a:accent5>
      <a:accent6>
        <a:srgbClr val="29D5A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2038</Words>
  <Application>WPS Presentation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Google Sans Text</vt:lpstr>
      <vt:lpstr>Segoe Print</vt:lpstr>
      <vt:lpstr>Lato</vt:lpstr>
      <vt:lpstr>Manrope ExtraBold</vt:lpstr>
      <vt:lpstr>Microsoft YaHei</vt:lpstr>
      <vt:lpstr>Arial Unicode MS</vt:lpstr>
      <vt:lpstr>Calibri</vt:lpstr>
      <vt:lpstr>Office Theme</vt:lpstr>
      <vt:lpstr>Deep Learning Based Fear &amp; Greed Index Prediction</vt:lpstr>
      <vt:lpstr>Predicting synthetic "Crypto Fear &amp; Greed Index" using historical market data.</vt:lpstr>
      <vt:lpstr>Bitcoin &amp; Gold Daily Closing Prices</vt:lpstr>
      <vt:lpstr>Synthetic Target</vt:lpstr>
      <vt:lpstr>Model Architecture</vt:lpstr>
      <vt:lpstr>Architecture Flow</vt:lpstr>
      <vt:lpstr>Training Strategy</vt:lpstr>
      <vt:lpstr>Experiments &amp; Results</vt:lpstr>
      <vt:lpstr>Creativity &amp; Originality</vt:lpstr>
      <vt:lpstr>Conclusion</vt:lpstr>
      <vt:lpstr>Thank you for listening.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berkeunver</dc:creator>
  <cp:lastModifiedBy>berke ünver</cp:lastModifiedBy>
  <cp:revision>10</cp:revision>
  <dcterms:created xsi:type="dcterms:W3CDTF">2025-07-23T00:59:00Z</dcterms:created>
  <dcterms:modified xsi:type="dcterms:W3CDTF">2025-12-25T18:14:27Z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1033-12.2.0.22549</vt:lpwstr>
  </property>
</Properties>
</file>